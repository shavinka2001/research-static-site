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14A63-8FCA-41B7-B409-C70632083DF2}" v="1" dt="2026-10-15T14:03:06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>
      <p:cViewPr varScale="1">
        <p:scale>
          <a:sx n="37" d="100"/>
          <a:sy n="37" d="100"/>
        </p:scale>
        <p:origin x="95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group R26-IT-154. Our project is an integrated pre-construction feasibility analyzer for residential projects in Sri Lanka.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PP2 comment was about validation. These are the four actions and what each produced. C1 and C3 validation is still running, and we say that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questions are answered separately today, by different people at different times. No single system joins them before building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tools stop short. Our inventive step is the shared project record and the fact that a detected clash is corrected and re-verified, not just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Kavith Ashwin Ranaweera — Component 1 — Environmental and Site Condition Analysis. Fit: Produces the site record every other component reads. Evidence: Measured against a surveyed plot on site; invalid boundaries are rejected. Limitation: Accuracy depends on the phone's GPS and an open view of the sky.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Kavindu Shavinka — Component 2 — Structural Design Interpretation and Quantification. Fit: Supplies the quantities that C4 prices. Evidence: Checked against hand-measured plans; every corrected clash is re-checked. Limitation: Tuned to standard 2D residential drawings; a poor scan lowers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Vinusha Samuditha — Component 3 — Legal, Regulatory and Approval Risk Assessment. Fit: Turns approval risk into waiting days for C4's schedule. Evidence: Every violation traces back to a named official requirement. Limitation: Covers the application types collected so far; the authority still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Emalsha Shamindi — Component 4 — Integrated Feasibility Advisor. Fit: Where the three upstream parts become one number. Evidence: Tested on data the model never saw; predictions plotted against actuals. Limitation: Market rates change, so an old bill has to be re-priced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Rather than reading numbers out, this slide shows how each component was checked. The detector over-reports rather than misses, which is the safer error for a quantity take-off. The full tables are in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industry reviewers from Shantha Ranaweera (Private) Limited — their quantity surveyor and the company owner — followed the project and signed a letter of endorsement covering the whole system. The signed letter is available for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scope limits, not data problems. We would rather state a limit than defend something we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scheduled before the thesis submission. Thank you —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10/18/2026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3864"/>
                </a:solidFill>
              </a:rPr>
              <a:t>Intelligent AI-Driven Pre-Construction Feasibility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514600"/>
            <a:ext cx="9906000" cy="3200400"/>
          </a:xfrm>
        </p:spPr>
        <p:txBody>
          <a:bodyPr wrap="square"/>
          <a:lstStyle/>
          <a:p>
            <a:pPr algn="ctr">
              <a:spcAft>
                <a:spcPts val="1400"/>
              </a:spcAft>
              <a:buNone/>
            </a:pPr>
            <a:r>
              <a:rPr sz="2000" b="1">
                <a:solidFill>
                  <a:srgbClr val="C55A11"/>
                </a:solidFill>
              </a:rPr>
              <a:t>R26-IT-154   |   Final Presentation and Viva</a:t>
            </a:r>
          </a:p>
          <a:p>
            <a:pPr algn="ctr">
              <a:spcAft>
                <a:spcPts val="1400"/>
              </a:spcAft>
              <a:buNone/>
            </a:pPr>
            <a:r>
              <a:rPr sz="1600" b="0">
                <a:solidFill>
                  <a:srgbClr val="1A1A1A"/>
                </a:solidFill>
              </a:rPr>
              <a:t>IT22542724   Ranaweera K.A.          IT22110770   Shavinka Y.G.K.</a:t>
            </a:r>
          </a:p>
          <a:p>
            <a:pPr algn="ctr">
              <a:spcAft>
                <a:spcPts val="1400"/>
              </a:spcAft>
              <a:buNone/>
            </a:pPr>
            <a:r>
              <a:rPr sz="1600" b="0">
                <a:solidFill>
                  <a:srgbClr val="1A1A1A"/>
                </a:solidFill>
              </a:rPr>
              <a:t>IT22542892   Samuditha T.A.V.        IT22547460   Shamindi E.E.</a:t>
            </a:r>
          </a:p>
          <a:p>
            <a:pPr algn="ctr">
              <a:spcAft>
                <a:spcPts val="1400"/>
              </a:spcAft>
              <a:buNone/>
            </a:pPr>
            <a:r>
              <a:rPr sz="1500" b="0">
                <a:solidFill>
                  <a:srgbClr val="595959"/>
                </a:solidFill>
              </a:rPr>
              <a:t>Supervisor: Mr. Ravi Supunya      Co-Supervisor: Ms. Suriya Kumari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PP2 Comments and Actions Taken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800000"/>
          <a:ext cx="10972800" cy="3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3100000"/>
                <a:gridCol w="3700000"/>
                <a:gridCol w="3272800"/>
              </a:tblGrid>
              <a:tr h="52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PP2 panel 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Evidence / outcome</a:t>
                      </a:r>
                    </a:p>
                  </a:txBody>
                  <a:tcPr/>
                </a:tc>
              </a:tr>
              <a:tr h="84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C1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“Better validate the result.”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Area is recalculated on the server, not trusted from the phone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Measured against a surveyed plot on site and compared with the deed area</a:t>
                      </a:r>
                    </a:p>
                  </a:txBody>
                  <a:tcPr/>
                </a:tc>
              </a:tr>
              <a:tr h="84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C2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“Increase the validation accuracy.”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Detection and wall tracing are now handled separately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Checked against hand-measured plans; every corrected clash is re-checked automatically</a:t>
                      </a:r>
                    </a:p>
                  </a:txBody>
                  <a:tcPr/>
                </a:tc>
              </a:tr>
              <a:tr h="84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C3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“Show the violating points clearly.”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A rule check was added beside the risk model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Every result is traced back to the official requirement it came from</a:t>
                      </a:r>
                    </a:p>
                  </a:txBody>
                  <a:tcPr/>
                </a:tc>
              </a:tr>
              <a:tr h="84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C4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“Better validate the result.”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Tested on data the model had never seen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/>
                        <a:t>Predictions plotted against the actual values, with the deciding factors shown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Problem in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0000"/>
            <a:ext cx="10668000" cy="4300000"/>
          </a:xfrm>
        </p:spPr>
        <p:txBody>
          <a:bodyPr anchor="t" wrap="square"/>
          <a:lstStyle/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Buying land without knowing the land condition and flood risk makes it unsafe to build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Reading 2D blueprints by hand takes too much time and causes human errors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Building without knowing the approvals and laws leads to heavy legal fines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Budgets calculate the building cost but forget the future maintenance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There is no single system to check the land, plans, laws and budget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450000"/>
            <a:ext cx="1066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C55A11"/>
                </a:solidFill>
              </a:rPr>
              <a:t>Affected: homebuilders and landowners  ·  small and medium contractors  ·  quantity surveyors and architects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Design Excellence over 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0000"/>
            <a:ext cx="10668000" cy="4300000"/>
          </a:xfrm>
        </p:spPr>
        <p:txBody>
          <a:bodyPr anchor="t" wrap="square"/>
          <a:lstStyle/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Existing tools price the building cost only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Clash tools report design problems but do not correct them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Land assessment tools look at the site on its own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One shared project record — the boundary drives the quantities, which price the bill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Clashes are corrected and re-checked, not only reported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Approval waiting time enters the same schedule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Runs on an ordinary laptop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050000"/>
            <a:ext cx="8900000" cy="800000"/>
          </a:xfrm>
        </p:spPr>
        <p:txBody>
          <a:bodyPr anchor="ctr"/>
          <a:lstStyle/>
          <a:p>
            <a:pPr algn="l"/>
            <a:r>
              <a:rPr sz="2600" b="1">
                <a:solidFill>
                  <a:srgbClr val="1F3864"/>
                </a:solidFill>
              </a:rPr>
              <a:t>IT22542724   |   Ranaweera K.A.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50000"/>
            <a:ext cx="8900000" cy="2700000"/>
          </a:xfrm>
        </p:spPr>
        <p:txBody>
          <a:bodyPr anchor="t" wrap="square"/>
          <a:lstStyle/>
          <a:p>
            <a:pPr>
              <a:spcAft>
                <a:spcPts val="1200"/>
              </a:spcAft>
              <a:buNone/>
            </a:pPr>
            <a:r>
              <a:rPr sz="2100" b="1">
                <a:solidFill>
                  <a:srgbClr val="C55A11"/>
                </a:solidFill>
              </a:rPr>
              <a:t>Component 1 — Environmental and Site Condition Analysis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An installable phone app the owner uses on site, online or offline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Measures the land boundary — mark the corners or walk the perimeter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Gives the area in square metres and perches, and the perimeter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Checks slope, flood risk and whether the land can be built on</a:t>
            </a:r>
          </a:p>
        </p:txBody>
      </p:sp>
      <p:pic>
        <p:nvPicPr>
          <p:cNvPr id="4" name="Picture 3" descr="m_c1.png"/>
          <p:cNvPicPr>
            <a:picLocks noChangeAspect="1"/>
          </p:cNvPicPr>
          <p:nvPr/>
        </p:nvPicPr>
        <p:blipFill>
          <a:blip r:embed="rId2"/>
          <a:srcRect t="11576" b="11576"/>
          <a:stretch>
            <a:fillRect/>
          </a:stretch>
        </p:blipFill>
        <p:spPr>
          <a:xfrm>
            <a:off x="10134600" y="152400"/>
            <a:ext cx="19812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084" y="4800000"/>
            <a:ext cx="10363200" cy="153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3084" y="4890000"/>
            <a:ext cx="55000" cy="135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3084" y="4900000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3084" y="4900000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Produces the site record every other component reads.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3084" y="5343333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3084" y="5343333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Measured against a surveyed plot on site; invalid boundaries are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084" y="5786666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C55A11"/>
                </a:solidFill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3084" y="5786666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Accuracy depends on the phone's GPS and an open view of the sky.</a:t>
            </a:r>
          </a:p>
        </p:txBody>
      </p:sp>
      <p:sp>
        <p:nvSpPr>
          <p:cNvPr id="901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IT22542724   |   Kavith Ashwin Ranaweera   |   R26-IT-154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050000"/>
            <a:ext cx="8900000" cy="800000"/>
          </a:xfrm>
        </p:spPr>
        <p:txBody>
          <a:bodyPr anchor="ctr"/>
          <a:lstStyle/>
          <a:p>
            <a:pPr algn="l"/>
            <a:r>
              <a:rPr sz="2600" b="1">
                <a:solidFill>
                  <a:srgbClr val="1F3864"/>
                </a:solidFill>
              </a:rPr>
              <a:t>IT22110770   |   Shavinka Y.G.K.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50000"/>
            <a:ext cx="8900000" cy="2700000"/>
          </a:xfrm>
        </p:spPr>
        <p:txBody>
          <a:bodyPr anchor="t" wrap="square"/>
          <a:lstStyle/>
          <a:p>
            <a:pPr>
              <a:spcAft>
                <a:spcPts val="1200"/>
              </a:spcAft>
              <a:buNone/>
            </a:pPr>
            <a:r>
              <a:rPr sz="2100" b="1">
                <a:solidFill>
                  <a:srgbClr val="C55A11"/>
                </a:solidFill>
              </a:rPr>
              <a:t>Component 2 — Structural Design Interpretation and Quantification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Reads a house plan and finds the doors, windows and structural parts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Traces the walls and measures the quantities automatically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Finds design clashes, corrects them and re-checks the correction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Rebuilds the plan as a 3D view and an editable drawing file</a:t>
            </a:r>
          </a:p>
        </p:txBody>
      </p:sp>
      <p:pic>
        <p:nvPicPr>
          <p:cNvPr id="4" name="Picture 3" descr="m_c2.png"/>
          <p:cNvPicPr>
            <a:picLocks noChangeAspect="1"/>
          </p:cNvPicPr>
          <p:nvPr/>
        </p:nvPicPr>
        <p:blipFill>
          <a:blip r:embed="rId2"/>
          <a:srcRect t="6711" b="6711"/>
          <a:stretch>
            <a:fillRect/>
          </a:stretch>
        </p:blipFill>
        <p:spPr>
          <a:xfrm>
            <a:off x="10134600" y="152400"/>
            <a:ext cx="19812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084" y="4800000"/>
            <a:ext cx="10363200" cy="153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3084" y="4890000"/>
            <a:ext cx="55000" cy="135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3084" y="4900000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3084" y="4900000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Supplies the quantities that C4 prices.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3084" y="5343333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3084" y="5343333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Checked against hand-measured plans; every corrected clash is re-checked.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084" y="5786666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C55A11"/>
                </a:solidFill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3084" y="5786666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Tuned to standard 2D residential drawings; a poor scan lowers accuracy.</a:t>
            </a:r>
          </a:p>
        </p:txBody>
      </p:sp>
      <p:sp>
        <p:nvSpPr>
          <p:cNvPr id="902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IT22110770   |   Kavindu Shavinka   |   R26-IT-154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050000"/>
            <a:ext cx="8900000" cy="800000"/>
          </a:xfrm>
        </p:spPr>
        <p:txBody>
          <a:bodyPr anchor="ctr"/>
          <a:lstStyle/>
          <a:p>
            <a:pPr algn="l"/>
            <a:r>
              <a:rPr sz="2600" b="1">
                <a:solidFill>
                  <a:srgbClr val="1F3864"/>
                </a:solidFill>
              </a:rPr>
              <a:t>IT22542892   |   Samuditha T.A.V.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50000"/>
            <a:ext cx="8900000" cy="2700000"/>
          </a:xfrm>
        </p:spPr>
        <p:txBody>
          <a:bodyPr anchor="t" wrap="square"/>
          <a:lstStyle/>
          <a:p>
            <a:pPr>
              <a:spcAft>
                <a:spcPts val="1200"/>
              </a:spcAft>
              <a:buNone/>
            </a:pPr>
            <a:r>
              <a:rPr sz="2100" b="1">
                <a:solidFill>
                  <a:srgbClr val="C55A11"/>
                </a:solidFill>
              </a:rPr>
              <a:t>Component 3 — Legal, Regulatory and Approval Risk Assessment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Collects the official approval requirements for each application type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Checks the submission and names the missing or wrong document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Shows the rule that is broken and the action needed to fix it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Flags documents it could not verify instead of passing them silently</a:t>
            </a:r>
          </a:p>
        </p:txBody>
      </p:sp>
      <p:pic>
        <p:nvPicPr>
          <p:cNvPr id="4" name="Picture 3" descr="m_c3.png"/>
          <p:cNvPicPr>
            <a:picLocks noChangeAspect="1"/>
          </p:cNvPicPr>
          <p:nvPr/>
        </p:nvPicPr>
        <p:blipFill>
          <a:blip r:embed="rId2"/>
          <a:srcRect t="17801" b="17801"/>
          <a:stretch>
            <a:fillRect/>
          </a:stretch>
        </p:blipFill>
        <p:spPr>
          <a:xfrm>
            <a:off x="10134600" y="152400"/>
            <a:ext cx="19812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084" y="4800000"/>
            <a:ext cx="10363200" cy="153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3084" y="4890000"/>
            <a:ext cx="55000" cy="135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3084" y="4900000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3084" y="4900000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Turns approval risk into waiting days for C4's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3084" y="5343333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3084" y="5343333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Every violation traces back to a named official requirement.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084" y="5786666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C55A11"/>
                </a:solidFill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3084" y="5786666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Covers the application types collected so far; the authority still decides.</a:t>
            </a:r>
          </a:p>
        </p:txBody>
      </p:sp>
      <p:sp>
        <p:nvSpPr>
          <p:cNvPr id="903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IT22542892   |   Vinusha Samuditha   |   R26-IT-154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050000"/>
            <a:ext cx="8900000" cy="800000"/>
          </a:xfrm>
        </p:spPr>
        <p:txBody>
          <a:bodyPr anchor="ctr"/>
          <a:lstStyle/>
          <a:p>
            <a:pPr algn="l"/>
            <a:r>
              <a:rPr sz="2600" b="1">
                <a:solidFill>
                  <a:srgbClr val="1F3864"/>
                </a:solidFill>
              </a:rPr>
              <a:t>IT22547460   |   Shamindi E.E.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50000"/>
            <a:ext cx="8900000" cy="2700000"/>
          </a:xfrm>
        </p:spPr>
        <p:txBody>
          <a:bodyPr anchor="t" wrap="square"/>
          <a:lstStyle/>
          <a:p>
            <a:pPr>
              <a:spcAft>
                <a:spcPts val="1200"/>
              </a:spcAft>
              <a:buNone/>
            </a:pPr>
            <a:r>
              <a:rPr sz="2100" b="1">
                <a:solidFill>
                  <a:srgbClr val="C55A11"/>
                </a:solidFill>
              </a:rPr>
              <a:t>Component 4 — Integrated Feasibility Advisor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Builds the bill of quantities in the standard national format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Prices it from current market rates, showing how old each rate is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Creates the construction schedule, including approval waiting time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Predicts the building's service life and the 50-year running cost</a:t>
            </a:r>
          </a:p>
        </p:txBody>
      </p:sp>
      <p:pic>
        <p:nvPicPr>
          <p:cNvPr id="4" name="Picture 3" descr="m_c4.png"/>
          <p:cNvPicPr>
            <a:picLocks noChangeAspect="1"/>
          </p:cNvPicPr>
          <p:nvPr/>
        </p:nvPicPr>
        <p:blipFill>
          <a:blip r:embed="rId2"/>
          <a:srcRect t="11569" b="11569"/>
          <a:stretch>
            <a:fillRect/>
          </a:stretch>
        </p:blipFill>
        <p:spPr>
          <a:xfrm>
            <a:off x="10134600" y="152400"/>
            <a:ext cx="19812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084" y="4800000"/>
            <a:ext cx="10363200" cy="153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3084" y="4890000"/>
            <a:ext cx="55000" cy="1350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3084" y="4900000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3084" y="4900000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Where the three upstream parts become one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3084" y="5343333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3084" y="5343333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Tested on data the model never saw; predictions plotted against actuals.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084" y="5786666"/>
            <a:ext cx="17500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C55A11"/>
                </a:solidFill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3084" y="5786666"/>
            <a:ext cx="8063200" cy="44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1A1A"/>
                </a:solidFill>
              </a:rPr>
              <a:t>Market rates change, so an old bill has to be re-priced before use.</a:t>
            </a:r>
          </a:p>
        </p:txBody>
      </p:sp>
      <p:sp>
        <p:nvSpPr>
          <p:cNvPr id="90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IT22547460   |   Emalsha Shamindi   |   R26-IT-154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Results — How the System Was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0000"/>
            <a:ext cx="10668000" cy="4300000"/>
          </a:xfrm>
        </p:spPr>
        <p:txBody>
          <a:bodyPr anchor="t" wrap="square"/>
          <a:lstStyle/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C1 — boundary measured on a surveyed plot and compared with the deed area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C2 — extracted quantities checked against hand-measured plans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C2 — every clash the system corrects is automatically re-checked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C3 — every reported violation traced back to the official requirement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C4 — tested on data the model never saw, predictions plotted against actuals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Full analysis completes in about a second on an ordinary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450000"/>
            <a:ext cx="1066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600" b="1">
                <a:solidFill>
                  <a:srgbClr val="C55A11"/>
                </a:solidFill>
              </a:rPr>
              <a:t>The detailed figures for each component are reported in the thesis.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User Feedback and Testimonials</a:t>
            </a:r>
          </a:p>
        </p:txBody>
      </p:sp>
      <p:pic>
        <p:nvPicPr>
          <p:cNvPr id="3" name="Picture 2" descr="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66" y="1480000"/>
            <a:ext cx="3234268" cy="4600000"/>
          </a:xfrm>
          <a:prstGeom prst="rect">
            <a:avLst/>
          </a:prstGeom>
          <a:ln w="9525">
            <a:solidFill>
              <a:srgbClr val="C8D0DC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14400" y="6180000"/>
            <a:ext cx="33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</a:rPr>
              <a:t>Signed 21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0" y="1480000"/>
            <a:ext cx="6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2000" b="1">
                <a:solidFill>
                  <a:srgbClr val="C55A11"/>
                </a:solidFill>
              </a:rPr>
              <a:t>Industry review</a:t>
            </a:r>
          </a:p>
          <a:p>
            <a:pPr>
              <a:spcAft>
                <a:spcPts val="200"/>
              </a:spcAft>
              <a:buNone/>
            </a:pPr>
            <a:r>
              <a:rPr sz="1500" b="0">
                <a:solidFill>
                  <a:srgbClr val="595959"/>
                </a:solidFill>
              </a:rPr>
              <a:t>Shantha Ranaweera (Private)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2280000"/>
            <a:ext cx="690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</a:rPr>
              <a:t>Reviewed by the company's quantity surveyor, Chamith Poorna, and by the company owner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</a:rPr>
              <a:t>Both followed the project through development and reviewed the complete system, not one component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</a:rPr>
              <a:t>They advised on the estimating assumptions, including the depreciation rate and the lifecycle baseline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</a:rPr>
              <a:t>Their signed letter of endorsement is attached and available to the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5350000"/>
            <a:ext cx="6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400" b="0">
                <a:solidFill>
                  <a:srgbClr val="595959"/>
                </a:solidFill>
              </a:rPr>
              <a:t>A structured acceptance test with further practitioners is scheduled before the thesis submission.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Limitations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0000"/>
            <a:ext cx="10668000" cy="4300000"/>
          </a:xfrm>
        </p:spPr>
        <p:txBody>
          <a:bodyPr anchor="t" wrap="square"/>
          <a:lstStyle/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Scope is single-storey residential projects in one local authority area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Boundary accuracy depends on the phone's GPS and an open view of the sky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Plan reading is tuned to standard 2D drawings; a poor scan lowers accuracy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Market rates change, so an old bill of quantities must be re-priced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2000" b="0">
                <a:solidFill>
                  <a:srgbClr val="1A1A1A"/>
                </a:solidFill>
              </a:rPr>
              <a:t>The system advises — the approval decision still rests with the authority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0000"/>
            <a:ext cx="10668000" cy="4300000"/>
          </a:xfrm>
        </p:spPr>
        <p:txBody>
          <a:bodyPr anchor="t" wrap="square"/>
          <a:lstStyle/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Extend from single-storey homes to multi-storey and commercial projects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Cover every local authority in Sri Lanka, not one jurisdiction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Submit approval applications directly to the authority from the platform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Price the bill from live contractor and supplier quotations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Build a national cost and lifecycle database from completed projects</a:t>
            </a:r>
          </a:p>
          <a:p>
            <a:pPr marL="285750" indent="-228600">
              <a:spcAft>
                <a:spcPts val="14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</a:rPr>
              <a:t>Public mobile release, with a 3D walkthrough the client can view on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0BED47397629468ECCA40A9BFD2360" ma:contentTypeVersion="32" ma:contentTypeDescription="Create a new document." ma:contentTypeScope="" ma:versionID="8018176eb00ec7aee09f0e7e93d2feae">
  <xsd:schema xmlns:xsd="http://www.w3.org/2001/XMLSchema" xmlns:xs="http://www.w3.org/2001/XMLSchema" xmlns:p="http://schemas.microsoft.com/office/2006/metadata/properties" xmlns:ns3="7052f7b4-6618-4fd5-8c2b-195a2e438ea3" xmlns:ns4="d73754a2-87ab-421f-a273-25d43a392330" targetNamespace="http://schemas.microsoft.com/office/2006/metadata/properties" ma:root="true" ma:fieldsID="e50bf4c58197e20629937f9ece67a00f" ns3:_="" ns4:_="">
    <xsd:import namespace="7052f7b4-6618-4fd5-8c2b-195a2e438ea3"/>
    <xsd:import namespace="d73754a2-87ab-421f-a273-25d43a392330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52f7b4-6618-4fd5-8c2b-195a2e438ea3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9" nillable="true" ma:displayName="Length (seconds)" ma:internalName="MediaLengthInSeconds" ma:readOnly="true">
      <xsd:simpleType>
        <xsd:restriction base="dms:Unknown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34" nillable="true" ma:displayName="_activity" ma:hidden="true" ma:internalName="_activity">
      <xsd:simpleType>
        <xsd:restriction base="dms:Note"/>
      </xsd:simpleType>
    </xsd:element>
    <xsd:element name="MediaServiceObjectDetectorVersions" ma:index="3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3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3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3754a2-87ab-421f-a273-25d43a392330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chers xmlns="7052f7b4-6618-4fd5-8c2b-195a2e438ea3">
      <UserInfo>
        <DisplayName/>
        <AccountId xsi:nil="true"/>
        <AccountType/>
      </UserInfo>
    </Teachers>
    <Templates xmlns="7052f7b4-6618-4fd5-8c2b-195a2e438ea3" xsi:nil="true"/>
    <Invited_Teachers xmlns="7052f7b4-6618-4fd5-8c2b-195a2e438ea3" xsi:nil="true"/>
    <CultureName xmlns="7052f7b4-6618-4fd5-8c2b-195a2e438ea3" xsi:nil="true"/>
    <Student_Groups xmlns="7052f7b4-6618-4fd5-8c2b-195a2e438ea3">
      <UserInfo>
        <DisplayName/>
        <AccountId xsi:nil="true"/>
        <AccountType/>
      </UserInfo>
    </Student_Groups>
    <Self_Registration_Enabled xmlns="7052f7b4-6618-4fd5-8c2b-195a2e438ea3" xsi:nil="true"/>
    <AppVersion xmlns="7052f7b4-6618-4fd5-8c2b-195a2e438ea3" xsi:nil="true"/>
    <NotebookType xmlns="7052f7b4-6618-4fd5-8c2b-195a2e438ea3" xsi:nil="true"/>
    <DefaultSectionNames xmlns="7052f7b4-6618-4fd5-8c2b-195a2e438ea3" xsi:nil="true"/>
    <FolderType xmlns="7052f7b4-6618-4fd5-8c2b-195a2e438ea3" xsi:nil="true"/>
    <Owner xmlns="7052f7b4-6618-4fd5-8c2b-195a2e438ea3">
      <UserInfo>
        <DisplayName/>
        <AccountId xsi:nil="true"/>
        <AccountType/>
      </UserInfo>
    </Owner>
    <Students xmlns="7052f7b4-6618-4fd5-8c2b-195a2e438ea3">
      <UserInfo>
        <DisplayName/>
        <AccountId xsi:nil="true"/>
        <AccountType/>
      </UserInfo>
    </Students>
    <Has_Teacher_Only_SectionGroup xmlns="7052f7b4-6618-4fd5-8c2b-195a2e438ea3" xsi:nil="true"/>
    <Is_Collaboration_Space_Locked xmlns="7052f7b4-6618-4fd5-8c2b-195a2e438ea3" xsi:nil="true"/>
    <_activity xmlns="7052f7b4-6618-4fd5-8c2b-195a2e438ea3" xsi:nil="true"/>
    <Invited_Students xmlns="7052f7b4-6618-4fd5-8c2b-195a2e438ea3" xsi:nil="true"/>
  </documentManagement>
</p:properties>
</file>

<file path=customXml/itemProps1.xml><?xml version="1.0" encoding="utf-8"?>
<ds:datastoreItem xmlns:ds="http://schemas.openxmlformats.org/officeDocument/2006/customXml" ds:itemID="{D524EB50-756A-4B4D-A538-B8A80096A1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4AE322-1B87-44EB-913F-C76F41A3CA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52f7b4-6618-4fd5-8c2b-195a2e438ea3"/>
    <ds:schemaRef ds:uri="d73754a2-87ab-421f-a273-25d43a3923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E179EA-5802-4847-97C7-5D18D23DA49F}">
  <ds:schemaRefs>
    <ds:schemaRef ds:uri="http://schemas.microsoft.com/office/infopath/2007/PartnerControls"/>
    <ds:schemaRef ds:uri="http://www.w3.org/XML/1998/namespace"/>
    <ds:schemaRef ds:uri="7052f7b4-6618-4fd5-8c2b-195a2e438ea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d73754a2-87ab-421f-a273-25d43a392330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10304</TotalTime>
  <Words>129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Overall Title of the Project</vt:lpstr>
      <vt:lpstr>Overall Title of the Project</vt:lpstr>
      <vt:lpstr>PowerPoint Presentation</vt:lpstr>
      <vt:lpstr>Last Slide: Results and Testimonials - Feedback from users/User Acceptance Test/Benchmark Tests/Accuracy/F1 Score - Limitations of the System and Future Improvements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Koliya Pulasinghe</cp:lastModifiedBy>
  <cp:revision>7</cp:revision>
  <dcterms:created xsi:type="dcterms:W3CDTF">2025-08-25T09:34:25Z</dcterms:created>
  <dcterms:modified xsi:type="dcterms:W3CDTF">2026-10-18T18:49:56Z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0x010100010BED47397629468ECCA40A9BFD2360</vt:lpwstr>
  </property>
</Properties>
</file>